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C709C5-0A89-47F2-AA44-2E6C510816F2}"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7BB64B-EFDD-40F5-9E32-DB2B2AE8FEB2}" type="slidenum">
              <a:rPr lang="en-IN" smtClean="0"/>
              <a:t>‹#›</a:t>
            </a:fld>
            <a:endParaRPr lang="en-IN"/>
          </a:p>
        </p:txBody>
      </p:sp>
    </p:spTree>
    <p:extLst>
      <p:ext uri="{BB962C8B-B14F-4D97-AF65-F5344CB8AC3E}">
        <p14:creationId xmlns:p14="http://schemas.microsoft.com/office/powerpoint/2010/main" val="3034089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C709C5-0A89-47F2-AA44-2E6C510816F2}"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7BB64B-EFDD-40F5-9E32-DB2B2AE8FEB2}" type="slidenum">
              <a:rPr lang="en-IN" smtClean="0"/>
              <a:t>‹#›</a:t>
            </a:fld>
            <a:endParaRPr lang="en-IN"/>
          </a:p>
        </p:txBody>
      </p:sp>
    </p:spTree>
    <p:extLst>
      <p:ext uri="{BB962C8B-B14F-4D97-AF65-F5344CB8AC3E}">
        <p14:creationId xmlns:p14="http://schemas.microsoft.com/office/powerpoint/2010/main" val="1227292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CC709C5-0A89-47F2-AA44-2E6C510816F2}"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7BB64B-EFDD-40F5-9E32-DB2B2AE8FEB2}" type="slidenum">
              <a:rPr lang="en-IN" smtClean="0"/>
              <a:t>‹#›</a:t>
            </a:fld>
            <a:endParaRPr lang="en-IN"/>
          </a:p>
        </p:txBody>
      </p:sp>
    </p:spTree>
    <p:extLst>
      <p:ext uri="{BB962C8B-B14F-4D97-AF65-F5344CB8AC3E}">
        <p14:creationId xmlns:p14="http://schemas.microsoft.com/office/powerpoint/2010/main" val="3429397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C709C5-0A89-47F2-AA44-2E6C510816F2}"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7BB64B-EFDD-40F5-9E32-DB2B2AE8FEB2}" type="slidenum">
              <a:rPr lang="en-IN" smtClean="0"/>
              <a:t>‹#›</a:t>
            </a:fld>
            <a:endParaRPr lang="en-IN"/>
          </a:p>
        </p:txBody>
      </p:sp>
    </p:spTree>
    <p:extLst>
      <p:ext uri="{BB962C8B-B14F-4D97-AF65-F5344CB8AC3E}">
        <p14:creationId xmlns:p14="http://schemas.microsoft.com/office/powerpoint/2010/main" val="3835101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C709C5-0A89-47F2-AA44-2E6C510816F2}" type="datetimeFigureOut">
              <a:rPr lang="en-IN" smtClean="0"/>
              <a:t>31-01-2026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E7BB64B-EFDD-40F5-9E32-DB2B2AE8FEB2}" type="slidenum">
              <a:rPr lang="en-IN" smtClean="0"/>
              <a:t>‹#›</a:t>
            </a:fld>
            <a:endParaRPr lang="en-IN"/>
          </a:p>
        </p:txBody>
      </p:sp>
    </p:spTree>
    <p:extLst>
      <p:ext uri="{BB962C8B-B14F-4D97-AF65-F5344CB8AC3E}">
        <p14:creationId xmlns:p14="http://schemas.microsoft.com/office/powerpoint/2010/main" val="3448568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C709C5-0A89-47F2-AA44-2E6C510816F2}" type="datetimeFigureOut">
              <a:rPr lang="en-IN" smtClean="0"/>
              <a:t>31-01-2026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E7BB64B-EFDD-40F5-9E32-DB2B2AE8FEB2}" type="slidenum">
              <a:rPr lang="en-IN" smtClean="0"/>
              <a:t>‹#›</a:t>
            </a:fld>
            <a:endParaRPr lang="en-IN"/>
          </a:p>
        </p:txBody>
      </p:sp>
    </p:spTree>
    <p:extLst>
      <p:ext uri="{BB962C8B-B14F-4D97-AF65-F5344CB8AC3E}">
        <p14:creationId xmlns:p14="http://schemas.microsoft.com/office/powerpoint/2010/main" val="2694995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C709C5-0A89-47F2-AA44-2E6C510816F2}" type="datetimeFigureOut">
              <a:rPr lang="en-IN" smtClean="0"/>
              <a:t>31-01-2026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E7BB64B-EFDD-40F5-9E32-DB2B2AE8FEB2}" type="slidenum">
              <a:rPr lang="en-IN" smtClean="0"/>
              <a:t>‹#›</a:t>
            </a:fld>
            <a:endParaRPr lang="en-IN"/>
          </a:p>
        </p:txBody>
      </p:sp>
    </p:spTree>
    <p:extLst>
      <p:ext uri="{BB962C8B-B14F-4D97-AF65-F5344CB8AC3E}">
        <p14:creationId xmlns:p14="http://schemas.microsoft.com/office/powerpoint/2010/main" val="1445833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CC709C5-0A89-47F2-AA44-2E6C510816F2}"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7BB64B-EFDD-40F5-9E32-DB2B2AE8FEB2}" type="slidenum">
              <a:rPr lang="en-IN" smtClean="0"/>
              <a:t>‹#›</a:t>
            </a:fld>
            <a:endParaRPr lang="en-IN"/>
          </a:p>
        </p:txBody>
      </p:sp>
    </p:spTree>
    <p:extLst>
      <p:ext uri="{BB962C8B-B14F-4D97-AF65-F5344CB8AC3E}">
        <p14:creationId xmlns:p14="http://schemas.microsoft.com/office/powerpoint/2010/main" val="3929730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CC709C5-0A89-47F2-AA44-2E6C510816F2}"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7BB64B-EFDD-40F5-9E32-DB2B2AE8FEB2}" type="slidenum">
              <a:rPr lang="en-IN" smtClean="0"/>
              <a:t>‹#›</a:t>
            </a:fld>
            <a:endParaRPr lang="en-IN"/>
          </a:p>
        </p:txBody>
      </p:sp>
    </p:spTree>
    <p:extLst>
      <p:ext uri="{BB962C8B-B14F-4D97-AF65-F5344CB8AC3E}">
        <p14:creationId xmlns:p14="http://schemas.microsoft.com/office/powerpoint/2010/main" val="757761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C709C5-0A89-47F2-AA44-2E6C510816F2}"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7BB64B-EFDD-40F5-9E32-DB2B2AE8FEB2}" type="slidenum">
              <a:rPr lang="en-IN" smtClean="0"/>
              <a:t>‹#›</a:t>
            </a:fld>
            <a:endParaRPr lang="en-IN"/>
          </a:p>
        </p:txBody>
      </p:sp>
    </p:spTree>
    <p:extLst>
      <p:ext uri="{BB962C8B-B14F-4D97-AF65-F5344CB8AC3E}">
        <p14:creationId xmlns:p14="http://schemas.microsoft.com/office/powerpoint/2010/main" val="977311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C709C5-0A89-47F2-AA44-2E6C510816F2}"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7BB64B-EFDD-40F5-9E32-DB2B2AE8FEB2}" type="slidenum">
              <a:rPr lang="en-IN" smtClean="0"/>
              <a:t>‹#›</a:t>
            </a:fld>
            <a:endParaRPr lang="en-IN"/>
          </a:p>
        </p:txBody>
      </p:sp>
    </p:spTree>
    <p:extLst>
      <p:ext uri="{BB962C8B-B14F-4D97-AF65-F5344CB8AC3E}">
        <p14:creationId xmlns:p14="http://schemas.microsoft.com/office/powerpoint/2010/main" val="2501437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C709C5-0A89-47F2-AA44-2E6C510816F2}" type="datetimeFigureOut">
              <a:rPr lang="en-IN" smtClean="0"/>
              <a:t>31-01-2026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7BB64B-EFDD-40F5-9E32-DB2B2AE8FEB2}" type="slidenum">
              <a:rPr lang="en-IN" smtClean="0"/>
              <a:t>‹#›</a:t>
            </a:fld>
            <a:endParaRPr lang="en-IN"/>
          </a:p>
        </p:txBody>
      </p:sp>
    </p:spTree>
    <p:extLst>
      <p:ext uri="{BB962C8B-B14F-4D97-AF65-F5344CB8AC3E}">
        <p14:creationId xmlns:p14="http://schemas.microsoft.com/office/powerpoint/2010/main" val="5676345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47AA8-8340-4CE5-B4AA-BAC8EFBB0C9A}"/>
              </a:ext>
            </a:extLst>
          </p:cNvPr>
          <p:cNvSpPr>
            <a:spLocks noGrp="1"/>
          </p:cNvSpPr>
          <p:nvPr>
            <p:ph type="ctrTitle"/>
          </p:nvPr>
        </p:nvSpPr>
        <p:spPr>
          <a:xfrm>
            <a:off x="1350499" y="278985"/>
            <a:ext cx="9144000" cy="536941"/>
          </a:xfrm>
        </p:spPr>
        <p:txBody>
          <a:bodyPr anchor="t">
            <a:normAutofit/>
          </a:bodyPr>
          <a:lstStyle/>
          <a:p>
            <a:r>
              <a:rPr lang="en-US" sz="3200" b="1" dirty="0">
                <a:latin typeface="Arial Black" panose="020B0A04020102020204" pitchFamily="34" charset="0"/>
              </a:rPr>
              <a:t>Credit card Customer report</a:t>
            </a:r>
            <a:endParaRPr lang="en-IN" sz="3200" b="1" dirty="0">
              <a:latin typeface="Arial Black" panose="020B0A04020102020204" pitchFamily="34" charset="0"/>
            </a:endParaRPr>
          </a:p>
        </p:txBody>
      </p:sp>
      <p:sp>
        <p:nvSpPr>
          <p:cNvPr id="3" name="Subtitle 2">
            <a:extLst>
              <a:ext uri="{FF2B5EF4-FFF2-40B4-BE49-F238E27FC236}">
                <a16:creationId xmlns:a16="http://schemas.microsoft.com/office/drawing/2014/main" id="{7B1218CF-AA6C-4DFC-9FE7-8131285B64B6}"/>
              </a:ext>
            </a:extLst>
          </p:cNvPr>
          <p:cNvSpPr>
            <a:spLocks noGrp="1"/>
          </p:cNvSpPr>
          <p:nvPr>
            <p:ph type="subTitle" idx="1"/>
          </p:nvPr>
        </p:nvSpPr>
        <p:spPr>
          <a:xfrm>
            <a:off x="1266092" y="4603433"/>
            <a:ext cx="9144000" cy="1655762"/>
          </a:xfrm>
        </p:spPr>
        <p:txBody>
          <a:bodyPr/>
          <a:lstStyle/>
          <a:p>
            <a:pPr algn="l"/>
            <a:r>
              <a:rPr lang="en-IN" sz="2000" dirty="0"/>
              <a:t>• Customers are making good income which facilitates more spending resulting into strong interest earnings for the company.</a:t>
            </a:r>
          </a:p>
          <a:p>
            <a:pPr algn="l"/>
            <a:r>
              <a:rPr lang="en-IN" sz="2000" dirty="0"/>
              <a:t>• However, the customer satisfaction score indicates there is a need for improvement in the service quality.</a:t>
            </a:r>
          </a:p>
          <a:p>
            <a:pPr algn="l"/>
            <a:endParaRPr lang="en-IN" dirty="0"/>
          </a:p>
        </p:txBody>
      </p:sp>
      <p:pic>
        <p:nvPicPr>
          <p:cNvPr id="4" name="Picture 3">
            <a:extLst>
              <a:ext uri="{FF2B5EF4-FFF2-40B4-BE49-F238E27FC236}">
                <a16:creationId xmlns:a16="http://schemas.microsoft.com/office/drawing/2014/main" id="{D538BD43-94AA-449E-92E1-0D6FB8E19C5B}"/>
              </a:ext>
            </a:extLst>
          </p:cNvPr>
          <p:cNvPicPr>
            <a:picLocks noChangeAspect="1"/>
          </p:cNvPicPr>
          <p:nvPr/>
        </p:nvPicPr>
        <p:blipFill>
          <a:blip r:embed="rId2"/>
          <a:stretch>
            <a:fillRect/>
          </a:stretch>
        </p:blipFill>
        <p:spPr>
          <a:xfrm>
            <a:off x="1266092" y="2254567"/>
            <a:ext cx="8721970" cy="1400920"/>
          </a:xfrm>
          <a:prstGeom prst="rect">
            <a:avLst/>
          </a:prstGeom>
        </p:spPr>
      </p:pic>
      <p:sp>
        <p:nvSpPr>
          <p:cNvPr id="5" name="Title 1">
            <a:extLst>
              <a:ext uri="{FF2B5EF4-FFF2-40B4-BE49-F238E27FC236}">
                <a16:creationId xmlns:a16="http://schemas.microsoft.com/office/drawing/2014/main" id="{F2A41005-5BB8-4017-A426-54F7B6766AAE}"/>
              </a:ext>
            </a:extLst>
          </p:cNvPr>
          <p:cNvSpPr txBox="1">
            <a:spLocks/>
          </p:cNvSpPr>
          <p:nvPr/>
        </p:nvSpPr>
        <p:spPr>
          <a:xfrm>
            <a:off x="1055077" y="1306622"/>
            <a:ext cx="9144000" cy="53694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latin typeface="+mn-lt"/>
              </a:rPr>
              <a:t>Overall Performance</a:t>
            </a:r>
            <a:endParaRPr lang="en-IN" sz="2800" b="1" dirty="0">
              <a:latin typeface="+mn-lt"/>
            </a:endParaRPr>
          </a:p>
        </p:txBody>
      </p:sp>
    </p:spTree>
    <p:extLst>
      <p:ext uri="{BB962C8B-B14F-4D97-AF65-F5344CB8AC3E}">
        <p14:creationId xmlns:p14="http://schemas.microsoft.com/office/powerpoint/2010/main" val="2706616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17FAC-B1D3-42D0-87CB-78F5C74E82F9}"/>
              </a:ext>
            </a:extLst>
          </p:cNvPr>
          <p:cNvSpPr txBox="1">
            <a:spLocks/>
          </p:cNvSpPr>
          <p:nvPr/>
        </p:nvSpPr>
        <p:spPr>
          <a:xfrm>
            <a:off x="1383323" y="193895"/>
            <a:ext cx="9144000" cy="536943"/>
          </a:xfrm>
          <a:prstGeom prst="rect">
            <a:avLst/>
          </a:prstGeom>
        </p:spPr>
        <p:txBody>
          <a:bodyPr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latin typeface="Arial Black" panose="020B0A04020102020204" pitchFamily="34" charset="0"/>
              </a:rPr>
              <a:t>Credit card Customer report</a:t>
            </a:r>
            <a:endParaRPr lang="en-IN" sz="3200" b="1" dirty="0">
              <a:latin typeface="Arial Black" panose="020B0A04020102020204" pitchFamily="34" charset="0"/>
            </a:endParaRPr>
          </a:p>
        </p:txBody>
      </p:sp>
      <p:sp>
        <p:nvSpPr>
          <p:cNvPr id="4" name="Title 1">
            <a:extLst>
              <a:ext uri="{FF2B5EF4-FFF2-40B4-BE49-F238E27FC236}">
                <a16:creationId xmlns:a16="http://schemas.microsoft.com/office/drawing/2014/main" id="{4456D3D1-FFC4-42BA-B6E7-52CDA1BEE632}"/>
              </a:ext>
            </a:extLst>
          </p:cNvPr>
          <p:cNvSpPr txBox="1">
            <a:spLocks/>
          </p:cNvSpPr>
          <p:nvPr/>
        </p:nvSpPr>
        <p:spPr>
          <a:xfrm>
            <a:off x="1383323" y="1126877"/>
            <a:ext cx="9144000" cy="53694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latin typeface="+mn-lt"/>
              </a:rPr>
              <a:t>Revenue Trend and Gender-wise Contribution</a:t>
            </a:r>
            <a:endParaRPr lang="en-IN" sz="2800" b="1" dirty="0">
              <a:latin typeface="+mn-lt"/>
            </a:endParaRPr>
          </a:p>
        </p:txBody>
      </p:sp>
      <p:pic>
        <p:nvPicPr>
          <p:cNvPr id="5" name="Picture 4">
            <a:extLst>
              <a:ext uri="{FF2B5EF4-FFF2-40B4-BE49-F238E27FC236}">
                <a16:creationId xmlns:a16="http://schemas.microsoft.com/office/drawing/2014/main" id="{8B39331B-9682-458D-9520-AA8FAF867A9F}"/>
              </a:ext>
            </a:extLst>
          </p:cNvPr>
          <p:cNvPicPr>
            <a:picLocks noChangeAspect="1"/>
          </p:cNvPicPr>
          <p:nvPr/>
        </p:nvPicPr>
        <p:blipFill>
          <a:blip r:embed="rId2"/>
          <a:stretch>
            <a:fillRect/>
          </a:stretch>
        </p:blipFill>
        <p:spPr>
          <a:xfrm>
            <a:off x="459544" y="1952855"/>
            <a:ext cx="6573280" cy="2394533"/>
          </a:xfrm>
          <a:prstGeom prst="rect">
            <a:avLst/>
          </a:prstGeom>
        </p:spPr>
      </p:pic>
      <p:pic>
        <p:nvPicPr>
          <p:cNvPr id="6" name="Picture 5">
            <a:extLst>
              <a:ext uri="{FF2B5EF4-FFF2-40B4-BE49-F238E27FC236}">
                <a16:creationId xmlns:a16="http://schemas.microsoft.com/office/drawing/2014/main" id="{63F8B645-2EE0-4750-B121-0A5BDA48E5F0}"/>
              </a:ext>
            </a:extLst>
          </p:cNvPr>
          <p:cNvPicPr>
            <a:picLocks noChangeAspect="1"/>
          </p:cNvPicPr>
          <p:nvPr/>
        </p:nvPicPr>
        <p:blipFill>
          <a:blip r:embed="rId3"/>
          <a:stretch>
            <a:fillRect/>
          </a:stretch>
        </p:blipFill>
        <p:spPr>
          <a:xfrm>
            <a:off x="7652970" y="2544732"/>
            <a:ext cx="4079486" cy="1336166"/>
          </a:xfrm>
          <a:prstGeom prst="rect">
            <a:avLst/>
          </a:prstGeom>
        </p:spPr>
      </p:pic>
      <p:sp>
        <p:nvSpPr>
          <p:cNvPr id="7" name="Subtitle 2">
            <a:extLst>
              <a:ext uri="{FF2B5EF4-FFF2-40B4-BE49-F238E27FC236}">
                <a16:creationId xmlns:a16="http://schemas.microsoft.com/office/drawing/2014/main" id="{C7F124CB-925D-42AB-9911-BCAAC687FD68}"/>
              </a:ext>
            </a:extLst>
          </p:cNvPr>
          <p:cNvSpPr txBox="1">
            <a:spLocks/>
          </p:cNvSpPr>
          <p:nvPr/>
        </p:nvSpPr>
        <p:spPr>
          <a:xfrm>
            <a:off x="1280160" y="4813879"/>
            <a:ext cx="9144000" cy="150017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000" dirty="0"/>
              <a:t>• Male customers consistently generate more revenue than the female customers. </a:t>
            </a:r>
          </a:p>
          <a:p>
            <a:pPr marL="0" indent="0">
              <a:buNone/>
            </a:pPr>
            <a:r>
              <a:rPr lang="en-IN" sz="2000" dirty="0"/>
              <a:t>• Male customers contribute to 55% of total revenue. </a:t>
            </a:r>
          </a:p>
        </p:txBody>
      </p:sp>
    </p:spTree>
    <p:extLst>
      <p:ext uri="{BB962C8B-B14F-4D97-AF65-F5344CB8AC3E}">
        <p14:creationId xmlns:p14="http://schemas.microsoft.com/office/powerpoint/2010/main" val="66732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17FAC-B1D3-42D0-87CB-78F5C74E82F9}"/>
              </a:ext>
            </a:extLst>
          </p:cNvPr>
          <p:cNvSpPr txBox="1">
            <a:spLocks/>
          </p:cNvSpPr>
          <p:nvPr/>
        </p:nvSpPr>
        <p:spPr>
          <a:xfrm>
            <a:off x="1383323" y="193895"/>
            <a:ext cx="9144000" cy="536943"/>
          </a:xfrm>
          <a:prstGeom prst="rect">
            <a:avLst/>
          </a:prstGeom>
        </p:spPr>
        <p:txBody>
          <a:bodyPr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latin typeface="Arial Black" panose="020B0A04020102020204" pitchFamily="34" charset="0"/>
              </a:rPr>
              <a:t>Credit card Customer report</a:t>
            </a:r>
            <a:endParaRPr lang="en-IN" sz="3200" b="1" dirty="0">
              <a:latin typeface="Arial Black" panose="020B0A04020102020204" pitchFamily="34" charset="0"/>
            </a:endParaRPr>
          </a:p>
        </p:txBody>
      </p:sp>
      <p:sp>
        <p:nvSpPr>
          <p:cNvPr id="4" name="Title 1">
            <a:extLst>
              <a:ext uri="{FF2B5EF4-FFF2-40B4-BE49-F238E27FC236}">
                <a16:creationId xmlns:a16="http://schemas.microsoft.com/office/drawing/2014/main" id="{4456D3D1-FFC4-42BA-B6E7-52CDA1BEE632}"/>
              </a:ext>
            </a:extLst>
          </p:cNvPr>
          <p:cNvSpPr txBox="1">
            <a:spLocks/>
          </p:cNvSpPr>
          <p:nvPr/>
        </p:nvSpPr>
        <p:spPr>
          <a:xfrm>
            <a:off x="1383323" y="858405"/>
            <a:ext cx="9144000" cy="53694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latin typeface="+mn-lt"/>
              </a:rPr>
              <a:t>Revenue by Categories</a:t>
            </a:r>
            <a:endParaRPr lang="en-IN" sz="2800" b="1" dirty="0">
              <a:latin typeface="+mn-lt"/>
            </a:endParaRPr>
          </a:p>
        </p:txBody>
      </p:sp>
      <p:sp>
        <p:nvSpPr>
          <p:cNvPr id="7" name="Subtitle 2">
            <a:extLst>
              <a:ext uri="{FF2B5EF4-FFF2-40B4-BE49-F238E27FC236}">
                <a16:creationId xmlns:a16="http://schemas.microsoft.com/office/drawing/2014/main" id="{C7F124CB-925D-42AB-9911-BCAAC687FD68}"/>
              </a:ext>
            </a:extLst>
          </p:cNvPr>
          <p:cNvSpPr txBox="1">
            <a:spLocks/>
          </p:cNvSpPr>
          <p:nvPr/>
        </p:nvSpPr>
        <p:spPr>
          <a:xfrm>
            <a:off x="1280160" y="4813879"/>
            <a:ext cx="9144000" cy="18502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000" dirty="0"/>
              <a:t>• Businessmen and White-collar workers are key revenue drivers.  </a:t>
            </a:r>
          </a:p>
          <a:p>
            <a:pPr marL="0" indent="0">
              <a:buNone/>
            </a:pPr>
            <a:r>
              <a:rPr lang="en-IN" sz="2000" dirty="0"/>
              <a:t>• Women in low income group surprisingly seems to contribute more than the other groups i.e. $10M, possibly due to higher credit usage.</a:t>
            </a:r>
          </a:p>
          <a:p>
            <a:pPr marL="0" indent="0">
              <a:buNone/>
            </a:pPr>
            <a:r>
              <a:rPr lang="en-IN" sz="2000" dirty="0"/>
              <a:t>• Middle aged customers (40-60) are the most profitable segments.</a:t>
            </a:r>
          </a:p>
          <a:p>
            <a:pPr marL="0" indent="0">
              <a:buNone/>
            </a:pPr>
            <a:r>
              <a:rPr lang="en-IN" sz="2000" dirty="0"/>
              <a:t>•Texas, New York and California are the most profitable states.</a:t>
            </a:r>
          </a:p>
        </p:txBody>
      </p:sp>
      <p:pic>
        <p:nvPicPr>
          <p:cNvPr id="3" name="Picture 2">
            <a:extLst>
              <a:ext uri="{FF2B5EF4-FFF2-40B4-BE49-F238E27FC236}">
                <a16:creationId xmlns:a16="http://schemas.microsoft.com/office/drawing/2014/main" id="{694E98E7-161F-4D40-9ACF-FD61EF499FA4}"/>
              </a:ext>
            </a:extLst>
          </p:cNvPr>
          <p:cNvPicPr>
            <a:picLocks noChangeAspect="1"/>
          </p:cNvPicPr>
          <p:nvPr/>
        </p:nvPicPr>
        <p:blipFill>
          <a:blip r:embed="rId2"/>
          <a:stretch>
            <a:fillRect/>
          </a:stretch>
        </p:blipFill>
        <p:spPr>
          <a:xfrm>
            <a:off x="337625" y="1637828"/>
            <a:ext cx="11479237" cy="2807563"/>
          </a:xfrm>
          <a:prstGeom prst="rect">
            <a:avLst/>
          </a:prstGeom>
        </p:spPr>
      </p:pic>
    </p:spTree>
    <p:extLst>
      <p:ext uri="{BB962C8B-B14F-4D97-AF65-F5344CB8AC3E}">
        <p14:creationId xmlns:p14="http://schemas.microsoft.com/office/powerpoint/2010/main" val="2273092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17FAC-B1D3-42D0-87CB-78F5C74E82F9}"/>
              </a:ext>
            </a:extLst>
          </p:cNvPr>
          <p:cNvSpPr txBox="1">
            <a:spLocks/>
          </p:cNvSpPr>
          <p:nvPr/>
        </p:nvSpPr>
        <p:spPr>
          <a:xfrm>
            <a:off x="1383323" y="193895"/>
            <a:ext cx="9144000" cy="536943"/>
          </a:xfrm>
          <a:prstGeom prst="rect">
            <a:avLst/>
          </a:prstGeom>
        </p:spPr>
        <p:txBody>
          <a:bodyPr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latin typeface="Arial Black" panose="020B0A04020102020204" pitchFamily="34" charset="0"/>
              </a:rPr>
              <a:t>Credit card Customer report</a:t>
            </a:r>
            <a:endParaRPr lang="en-IN" sz="3200" b="1" dirty="0">
              <a:latin typeface="Arial Black" panose="020B0A04020102020204" pitchFamily="34" charset="0"/>
            </a:endParaRPr>
          </a:p>
        </p:txBody>
      </p:sp>
      <p:sp>
        <p:nvSpPr>
          <p:cNvPr id="4" name="Title 1">
            <a:extLst>
              <a:ext uri="{FF2B5EF4-FFF2-40B4-BE49-F238E27FC236}">
                <a16:creationId xmlns:a16="http://schemas.microsoft.com/office/drawing/2014/main" id="{4456D3D1-FFC4-42BA-B6E7-52CDA1BEE632}"/>
              </a:ext>
            </a:extLst>
          </p:cNvPr>
          <p:cNvSpPr txBox="1">
            <a:spLocks/>
          </p:cNvSpPr>
          <p:nvPr/>
        </p:nvSpPr>
        <p:spPr>
          <a:xfrm>
            <a:off x="1383323" y="858405"/>
            <a:ext cx="9144000" cy="53694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latin typeface="+mn-lt"/>
              </a:rPr>
              <a:t>Job based summary</a:t>
            </a:r>
            <a:endParaRPr lang="en-IN" sz="2800" b="1" dirty="0">
              <a:latin typeface="+mn-lt"/>
            </a:endParaRPr>
          </a:p>
        </p:txBody>
      </p:sp>
      <p:sp>
        <p:nvSpPr>
          <p:cNvPr id="7" name="Subtitle 2">
            <a:extLst>
              <a:ext uri="{FF2B5EF4-FFF2-40B4-BE49-F238E27FC236}">
                <a16:creationId xmlns:a16="http://schemas.microsoft.com/office/drawing/2014/main" id="{C7F124CB-925D-42AB-9911-BCAAC687FD68}"/>
              </a:ext>
            </a:extLst>
          </p:cNvPr>
          <p:cNvSpPr txBox="1">
            <a:spLocks/>
          </p:cNvSpPr>
          <p:nvPr/>
        </p:nvSpPr>
        <p:spPr>
          <a:xfrm>
            <a:off x="1955410" y="5153062"/>
            <a:ext cx="9144000" cy="10523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000" dirty="0"/>
              <a:t>• Businessmen are the highest income earners which is $186.96M.</a:t>
            </a:r>
          </a:p>
          <a:p>
            <a:pPr marL="0" indent="0">
              <a:buNone/>
            </a:pPr>
            <a:r>
              <a:rPr lang="en-IN" sz="2000" dirty="0"/>
              <a:t>• They are also the highest interest paying class i.e. $25.53M.</a:t>
            </a:r>
          </a:p>
        </p:txBody>
      </p:sp>
      <p:pic>
        <p:nvPicPr>
          <p:cNvPr id="5" name="Picture 4">
            <a:extLst>
              <a:ext uri="{FF2B5EF4-FFF2-40B4-BE49-F238E27FC236}">
                <a16:creationId xmlns:a16="http://schemas.microsoft.com/office/drawing/2014/main" id="{644582B4-E15A-4292-B2F2-60F4FAC84E9D}"/>
              </a:ext>
            </a:extLst>
          </p:cNvPr>
          <p:cNvPicPr>
            <a:picLocks noChangeAspect="1"/>
          </p:cNvPicPr>
          <p:nvPr/>
        </p:nvPicPr>
        <p:blipFill>
          <a:blip r:embed="rId2"/>
          <a:stretch>
            <a:fillRect/>
          </a:stretch>
        </p:blipFill>
        <p:spPr>
          <a:xfrm>
            <a:off x="1383323" y="1522914"/>
            <a:ext cx="9561341" cy="3161627"/>
          </a:xfrm>
          <a:prstGeom prst="rect">
            <a:avLst/>
          </a:prstGeom>
        </p:spPr>
      </p:pic>
    </p:spTree>
    <p:extLst>
      <p:ext uri="{BB962C8B-B14F-4D97-AF65-F5344CB8AC3E}">
        <p14:creationId xmlns:p14="http://schemas.microsoft.com/office/powerpoint/2010/main" val="2898759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17FAC-B1D3-42D0-87CB-78F5C74E82F9}"/>
              </a:ext>
            </a:extLst>
          </p:cNvPr>
          <p:cNvSpPr txBox="1">
            <a:spLocks/>
          </p:cNvSpPr>
          <p:nvPr/>
        </p:nvSpPr>
        <p:spPr>
          <a:xfrm>
            <a:off x="1383323" y="193895"/>
            <a:ext cx="9144000" cy="536943"/>
          </a:xfrm>
          <a:prstGeom prst="rect">
            <a:avLst/>
          </a:prstGeom>
        </p:spPr>
        <p:txBody>
          <a:bodyPr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latin typeface="Arial Black" panose="020B0A04020102020204" pitchFamily="34" charset="0"/>
              </a:rPr>
              <a:t>Credit card Customer report</a:t>
            </a:r>
            <a:endParaRPr lang="en-IN" sz="3200" b="1" dirty="0">
              <a:latin typeface="Arial Black" panose="020B0A04020102020204" pitchFamily="34" charset="0"/>
            </a:endParaRPr>
          </a:p>
        </p:txBody>
      </p:sp>
      <p:sp>
        <p:nvSpPr>
          <p:cNvPr id="4" name="Title 1">
            <a:extLst>
              <a:ext uri="{FF2B5EF4-FFF2-40B4-BE49-F238E27FC236}">
                <a16:creationId xmlns:a16="http://schemas.microsoft.com/office/drawing/2014/main" id="{4456D3D1-FFC4-42BA-B6E7-52CDA1BEE632}"/>
              </a:ext>
            </a:extLst>
          </p:cNvPr>
          <p:cNvSpPr txBox="1">
            <a:spLocks/>
          </p:cNvSpPr>
          <p:nvPr/>
        </p:nvSpPr>
        <p:spPr>
          <a:xfrm>
            <a:off x="1383323" y="858405"/>
            <a:ext cx="9144000" cy="53694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latin typeface="+mn-lt"/>
              </a:rPr>
              <a:t>Recommendations</a:t>
            </a:r>
            <a:endParaRPr lang="en-IN" sz="2800" b="1" dirty="0">
              <a:latin typeface="+mn-lt"/>
            </a:endParaRPr>
          </a:p>
        </p:txBody>
      </p:sp>
      <p:sp>
        <p:nvSpPr>
          <p:cNvPr id="7" name="Subtitle 2">
            <a:extLst>
              <a:ext uri="{FF2B5EF4-FFF2-40B4-BE49-F238E27FC236}">
                <a16:creationId xmlns:a16="http://schemas.microsoft.com/office/drawing/2014/main" id="{C7F124CB-925D-42AB-9911-BCAAC687FD68}"/>
              </a:ext>
            </a:extLst>
          </p:cNvPr>
          <p:cNvSpPr txBox="1">
            <a:spLocks/>
          </p:cNvSpPr>
          <p:nvPr/>
        </p:nvSpPr>
        <p:spPr>
          <a:xfrm>
            <a:off x="675249" y="1862595"/>
            <a:ext cx="11240085" cy="33987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000" dirty="0"/>
              <a:t>• The company is performing well in terms of business but the customer satisfaction score indicates a higher chance of customer churn which is bad for business in the long run.  </a:t>
            </a:r>
          </a:p>
          <a:p>
            <a:pPr marL="0" indent="0">
              <a:buNone/>
            </a:pPr>
            <a:r>
              <a:rPr lang="en-IN" sz="2000" dirty="0"/>
              <a:t>• Service quality needs to improved to stay ahead of competition. We have to re-look at the fees charging strategy, bring more transparency in the billing process and re-evaluate our reward policy. We also need to strengthen our customer support team and enhance the digital experience of our customers. We can also start a referral program for customers.</a:t>
            </a:r>
          </a:p>
          <a:p>
            <a:pPr marL="0" indent="0">
              <a:buNone/>
            </a:pPr>
            <a:r>
              <a:rPr lang="en-IN" sz="2000" dirty="0"/>
              <a:t>• Targeted marketing campaigns aimed at our middle aged (40-60) premium customers located in Texas, New York and California states who are businessmen, businesswomen and men doing white collar jobs by giving them perks and custom services. Give more offers to women in low income groups as they are willing to use credit card more often than cash.</a:t>
            </a:r>
          </a:p>
          <a:p>
            <a:pPr marL="0" indent="0">
              <a:buNone/>
            </a:pPr>
            <a:endParaRPr lang="en-IN" sz="2000" dirty="0"/>
          </a:p>
          <a:p>
            <a:pPr marL="0" indent="0">
              <a:buNone/>
            </a:pPr>
            <a:endParaRPr lang="en-IN" sz="2000" dirty="0"/>
          </a:p>
        </p:txBody>
      </p:sp>
    </p:spTree>
    <p:extLst>
      <p:ext uri="{BB962C8B-B14F-4D97-AF65-F5344CB8AC3E}">
        <p14:creationId xmlns:p14="http://schemas.microsoft.com/office/powerpoint/2010/main" val="881540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47AA8-8340-4CE5-B4AA-BAC8EFBB0C9A}"/>
              </a:ext>
            </a:extLst>
          </p:cNvPr>
          <p:cNvSpPr>
            <a:spLocks noGrp="1"/>
          </p:cNvSpPr>
          <p:nvPr>
            <p:ph type="ctrTitle"/>
          </p:nvPr>
        </p:nvSpPr>
        <p:spPr>
          <a:xfrm>
            <a:off x="1350499" y="278985"/>
            <a:ext cx="9144000" cy="536941"/>
          </a:xfrm>
        </p:spPr>
        <p:txBody>
          <a:bodyPr anchor="t">
            <a:normAutofit/>
          </a:bodyPr>
          <a:lstStyle/>
          <a:p>
            <a:r>
              <a:rPr lang="en-US" sz="3200" b="1" dirty="0">
                <a:latin typeface="Arial Black" panose="020B0A04020102020204" pitchFamily="34" charset="0"/>
              </a:rPr>
              <a:t>Credit card Transaction report</a:t>
            </a:r>
            <a:endParaRPr lang="en-IN" sz="3200" b="1" dirty="0">
              <a:latin typeface="Arial Black" panose="020B0A04020102020204" pitchFamily="34" charset="0"/>
            </a:endParaRPr>
          </a:p>
        </p:txBody>
      </p:sp>
      <p:sp>
        <p:nvSpPr>
          <p:cNvPr id="3" name="Subtitle 2">
            <a:extLst>
              <a:ext uri="{FF2B5EF4-FFF2-40B4-BE49-F238E27FC236}">
                <a16:creationId xmlns:a16="http://schemas.microsoft.com/office/drawing/2014/main" id="{7B1218CF-AA6C-4DFC-9FE7-8131285B64B6}"/>
              </a:ext>
            </a:extLst>
          </p:cNvPr>
          <p:cNvSpPr>
            <a:spLocks noGrp="1"/>
          </p:cNvSpPr>
          <p:nvPr>
            <p:ph type="subTitle" idx="1"/>
          </p:nvPr>
        </p:nvSpPr>
        <p:spPr>
          <a:xfrm>
            <a:off x="1266092" y="4257230"/>
            <a:ext cx="9144000" cy="1655762"/>
          </a:xfrm>
        </p:spPr>
        <p:txBody>
          <a:bodyPr/>
          <a:lstStyle/>
          <a:p>
            <a:pPr algn="l"/>
            <a:r>
              <a:rPr lang="en-IN" sz="2000" dirty="0"/>
              <a:t>• Overall performance of the business is showing :</a:t>
            </a:r>
          </a:p>
          <a:p>
            <a:pPr algn="l"/>
            <a:r>
              <a:rPr lang="en-US" sz="2000" dirty="0"/>
              <a:t>-&gt; Strong Revenue of $55M.</a:t>
            </a:r>
          </a:p>
          <a:p>
            <a:pPr algn="l"/>
            <a:r>
              <a:rPr lang="en-US" sz="2000" dirty="0"/>
              <a:t>-&gt; High volume of transactions i.e. 656K.</a:t>
            </a:r>
          </a:p>
          <a:p>
            <a:pPr algn="l"/>
            <a:r>
              <a:rPr lang="en-US" sz="2000" dirty="0"/>
              <a:t>-&gt; Significant interest earnings of $7.84M.</a:t>
            </a:r>
            <a:endParaRPr lang="en-IN" dirty="0"/>
          </a:p>
        </p:txBody>
      </p:sp>
      <p:sp>
        <p:nvSpPr>
          <p:cNvPr id="5" name="Title 1">
            <a:extLst>
              <a:ext uri="{FF2B5EF4-FFF2-40B4-BE49-F238E27FC236}">
                <a16:creationId xmlns:a16="http://schemas.microsoft.com/office/drawing/2014/main" id="{F2A41005-5BB8-4017-A426-54F7B6766AAE}"/>
              </a:ext>
            </a:extLst>
          </p:cNvPr>
          <p:cNvSpPr txBox="1">
            <a:spLocks/>
          </p:cNvSpPr>
          <p:nvPr/>
        </p:nvSpPr>
        <p:spPr>
          <a:xfrm>
            <a:off x="1055077" y="1306622"/>
            <a:ext cx="9144000" cy="53694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latin typeface="+mn-lt"/>
              </a:rPr>
              <a:t>Overall Performance</a:t>
            </a:r>
            <a:endParaRPr lang="en-IN" sz="2800" b="1" dirty="0">
              <a:latin typeface="+mn-lt"/>
            </a:endParaRPr>
          </a:p>
        </p:txBody>
      </p:sp>
      <p:pic>
        <p:nvPicPr>
          <p:cNvPr id="6" name="Picture 5">
            <a:extLst>
              <a:ext uri="{FF2B5EF4-FFF2-40B4-BE49-F238E27FC236}">
                <a16:creationId xmlns:a16="http://schemas.microsoft.com/office/drawing/2014/main" id="{27CAAB27-4901-44F5-BA19-5AB9AB45CB1D}"/>
              </a:ext>
            </a:extLst>
          </p:cNvPr>
          <p:cNvPicPr>
            <a:picLocks noChangeAspect="1"/>
          </p:cNvPicPr>
          <p:nvPr/>
        </p:nvPicPr>
        <p:blipFill>
          <a:blip r:embed="rId2"/>
          <a:stretch>
            <a:fillRect/>
          </a:stretch>
        </p:blipFill>
        <p:spPr>
          <a:xfrm>
            <a:off x="1350499" y="2266236"/>
            <a:ext cx="8637563" cy="1309559"/>
          </a:xfrm>
          <a:prstGeom prst="rect">
            <a:avLst/>
          </a:prstGeom>
        </p:spPr>
      </p:pic>
    </p:spTree>
    <p:extLst>
      <p:ext uri="{BB962C8B-B14F-4D97-AF65-F5344CB8AC3E}">
        <p14:creationId xmlns:p14="http://schemas.microsoft.com/office/powerpoint/2010/main" val="246143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47AA8-8340-4CE5-B4AA-BAC8EFBB0C9A}"/>
              </a:ext>
            </a:extLst>
          </p:cNvPr>
          <p:cNvSpPr>
            <a:spLocks noGrp="1"/>
          </p:cNvSpPr>
          <p:nvPr>
            <p:ph type="ctrTitle"/>
          </p:nvPr>
        </p:nvSpPr>
        <p:spPr>
          <a:xfrm>
            <a:off x="1350499" y="278985"/>
            <a:ext cx="9144000" cy="536941"/>
          </a:xfrm>
        </p:spPr>
        <p:txBody>
          <a:bodyPr anchor="t">
            <a:normAutofit/>
          </a:bodyPr>
          <a:lstStyle/>
          <a:p>
            <a:r>
              <a:rPr lang="en-US" sz="3200" b="1" dirty="0">
                <a:latin typeface="Arial Black" panose="020B0A04020102020204" pitchFamily="34" charset="0"/>
              </a:rPr>
              <a:t>Credit card Transaction report</a:t>
            </a:r>
            <a:endParaRPr lang="en-IN" sz="3200" b="1" dirty="0">
              <a:latin typeface="Arial Black" panose="020B0A04020102020204" pitchFamily="34" charset="0"/>
            </a:endParaRPr>
          </a:p>
        </p:txBody>
      </p:sp>
      <p:sp>
        <p:nvSpPr>
          <p:cNvPr id="3" name="Subtitle 2">
            <a:extLst>
              <a:ext uri="{FF2B5EF4-FFF2-40B4-BE49-F238E27FC236}">
                <a16:creationId xmlns:a16="http://schemas.microsoft.com/office/drawing/2014/main" id="{7B1218CF-AA6C-4DFC-9FE7-8131285B64B6}"/>
              </a:ext>
            </a:extLst>
          </p:cNvPr>
          <p:cNvSpPr>
            <a:spLocks noGrp="1"/>
          </p:cNvSpPr>
          <p:nvPr>
            <p:ph type="subTitle" idx="1"/>
          </p:nvPr>
        </p:nvSpPr>
        <p:spPr>
          <a:xfrm>
            <a:off x="1350499" y="4723497"/>
            <a:ext cx="9144000" cy="1655762"/>
          </a:xfrm>
        </p:spPr>
        <p:txBody>
          <a:bodyPr/>
          <a:lstStyle/>
          <a:p>
            <a:pPr algn="l"/>
            <a:r>
              <a:rPr lang="en-IN" sz="2000" dirty="0"/>
              <a:t>• Blue cards dominate this category with:</a:t>
            </a:r>
          </a:p>
          <a:p>
            <a:pPr algn="l"/>
            <a:r>
              <a:rPr lang="en-US" sz="2000" dirty="0"/>
              <a:t>-</a:t>
            </a:r>
            <a:r>
              <a:rPr lang="en-IN" sz="2000" dirty="0"/>
              <a:t>&gt; Revenue of $46.13M.</a:t>
            </a:r>
          </a:p>
          <a:p>
            <a:pPr algn="l"/>
            <a:r>
              <a:rPr lang="en-US" sz="2000" dirty="0"/>
              <a:t>-</a:t>
            </a:r>
            <a:r>
              <a:rPr lang="en-IN" sz="2000" dirty="0"/>
              <a:t>&gt; Transaction Amount of $36.96M.</a:t>
            </a:r>
          </a:p>
          <a:p>
            <a:pPr algn="l"/>
            <a:r>
              <a:rPr lang="en-US" sz="2000" dirty="0"/>
              <a:t>-</a:t>
            </a:r>
            <a:r>
              <a:rPr lang="en-IN" sz="2000" dirty="0"/>
              <a:t>&gt; Interest earned up to $6.49M.</a:t>
            </a:r>
            <a:endParaRPr lang="en-IN" dirty="0"/>
          </a:p>
        </p:txBody>
      </p:sp>
      <p:sp>
        <p:nvSpPr>
          <p:cNvPr id="5" name="Title 1">
            <a:extLst>
              <a:ext uri="{FF2B5EF4-FFF2-40B4-BE49-F238E27FC236}">
                <a16:creationId xmlns:a16="http://schemas.microsoft.com/office/drawing/2014/main" id="{F2A41005-5BB8-4017-A426-54F7B6766AAE}"/>
              </a:ext>
            </a:extLst>
          </p:cNvPr>
          <p:cNvSpPr txBox="1">
            <a:spLocks/>
          </p:cNvSpPr>
          <p:nvPr/>
        </p:nvSpPr>
        <p:spPr>
          <a:xfrm>
            <a:off x="1055077" y="1134564"/>
            <a:ext cx="9144000" cy="53694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latin typeface="+mn-lt"/>
              </a:rPr>
              <a:t>Card Category Performance</a:t>
            </a:r>
            <a:endParaRPr lang="en-IN" sz="2800" b="1" dirty="0">
              <a:latin typeface="+mn-lt"/>
            </a:endParaRPr>
          </a:p>
        </p:txBody>
      </p:sp>
      <p:pic>
        <p:nvPicPr>
          <p:cNvPr id="4" name="Picture 3">
            <a:extLst>
              <a:ext uri="{FF2B5EF4-FFF2-40B4-BE49-F238E27FC236}">
                <a16:creationId xmlns:a16="http://schemas.microsoft.com/office/drawing/2014/main" id="{FBC1ADF9-DFB6-43DB-BD55-196D1E7B9F0F}"/>
              </a:ext>
            </a:extLst>
          </p:cNvPr>
          <p:cNvPicPr>
            <a:picLocks noChangeAspect="1"/>
          </p:cNvPicPr>
          <p:nvPr/>
        </p:nvPicPr>
        <p:blipFill>
          <a:blip r:embed="rId2"/>
          <a:stretch>
            <a:fillRect/>
          </a:stretch>
        </p:blipFill>
        <p:spPr>
          <a:xfrm>
            <a:off x="1533378" y="1800666"/>
            <a:ext cx="8500550" cy="2602522"/>
          </a:xfrm>
          <a:prstGeom prst="rect">
            <a:avLst/>
          </a:prstGeom>
        </p:spPr>
      </p:pic>
    </p:spTree>
    <p:extLst>
      <p:ext uri="{BB962C8B-B14F-4D97-AF65-F5344CB8AC3E}">
        <p14:creationId xmlns:p14="http://schemas.microsoft.com/office/powerpoint/2010/main" val="3865080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47AA8-8340-4CE5-B4AA-BAC8EFBB0C9A}"/>
              </a:ext>
            </a:extLst>
          </p:cNvPr>
          <p:cNvSpPr>
            <a:spLocks noGrp="1"/>
          </p:cNvSpPr>
          <p:nvPr>
            <p:ph type="ctrTitle"/>
          </p:nvPr>
        </p:nvSpPr>
        <p:spPr>
          <a:xfrm>
            <a:off x="1350499" y="278985"/>
            <a:ext cx="9144000" cy="536941"/>
          </a:xfrm>
        </p:spPr>
        <p:txBody>
          <a:bodyPr anchor="t">
            <a:normAutofit/>
          </a:bodyPr>
          <a:lstStyle/>
          <a:p>
            <a:r>
              <a:rPr lang="en-US" sz="3200" b="1" dirty="0">
                <a:latin typeface="Arial Black" panose="020B0A04020102020204" pitchFamily="34" charset="0"/>
              </a:rPr>
              <a:t>Credit card Transaction report</a:t>
            </a:r>
            <a:endParaRPr lang="en-IN" sz="3200" b="1" dirty="0">
              <a:latin typeface="Arial Black" panose="020B0A04020102020204" pitchFamily="34" charset="0"/>
            </a:endParaRPr>
          </a:p>
        </p:txBody>
      </p:sp>
      <p:sp>
        <p:nvSpPr>
          <p:cNvPr id="3" name="Subtitle 2">
            <a:extLst>
              <a:ext uri="{FF2B5EF4-FFF2-40B4-BE49-F238E27FC236}">
                <a16:creationId xmlns:a16="http://schemas.microsoft.com/office/drawing/2014/main" id="{7B1218CF-AA6C-4DFC-9FE7-8131285B64B6}"/>
              </a:ext>
            </a:extLst>
          </p:cNvPr>
          <p:cNvSpPr>
            <a:spLocks noGrp="1"/>
          </p:cNvSpPr>
          <p:nvPr>
            <p:ph type="subTitle" idx="1"/>
          </p:nvPr>
        </p:nvSpPr>
        <p:spPr>
          <a:xfrm>
            <a:off x="1350499" y="5483799"/>
            <a:ext cx="9144000" cy="1095216"/>
          </a:xfrm>
        </p:spPr>
        <p:txBody>
          <a:bodyPr/>
          <a:lstStyle/>
          <a:p>
            <a:pPr algn="l"/>
            <a:r>
              <a:rPr lang="en-IN" sz="2000" dirty="0"/>
              <a:t>• Revenue remained fairly consistent across quarters ($13M - $14M)</a:t>
            </a:r>
          </a:p>
          <a:p>
            <a:pPr algn="l"/>
            <a:r>
              <a:rPr lang="en-IN" sz="2000" dirty="0"/>
              <a:t>• However, the third quarter was the peak in terms of revenue and card usage, possibly due to the festive season.</a:t>
            </a:r>
          </a:p>
        </p:txBody>
      </p:sp>
      <p:sp>
        <p:nvSpPr>
          <p:cNvPr id="5" name="Title 1">
            <a:extLst>
              <a:ext uri="{FF2B5EF4-FFF2-40B4-BE49-F238E27FC236}">
                <a16:creationId xmlns:a16="http://schemas.microsoft.com/office/drawing/2014/main" id="{F2A41005-5BB8-4017-A426-54F7B6766AAE}"/>
              </a:ext>
            </a:extLst>
          </p:cNvPr>
          <p:cNvSpPr txBox="1">
            <a:spLocks/>
          </p:cNvSpPr>
          <p:nvPr/>
        </p:nvSpPr>
        <p:spPr>
          <a:xfrm>
            <a:off x="1055077" y="995558"/>
            <a:ext cx="9144000" cy="53694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latin typeface="+mn-lt"/>
              </a:rPr>
              <a:t>Quarterly Trend</a:t>
            </a:r>
            <a:endParaRPr lang="en-IN" sz="2800" b="1" dirty="0">
              <a:latin typeface="+mn-lt"/>
            </a:endParaRPr>
          </a:p>
        </p:txBody>
      </p:sp>
      <p:pic>
        <p:nvPicPr>
          <p:cNvPr id="8" name="Picture 7">
            <a:extLst>
              <a:ext uri="{FF2B5EF4-FFF2-40B4-BE49-F238E27FC236}">
                <a16:creationId xmlns:a16="http://schemas.microsoft.com/office/drawing/2014/main" id="{B4E3196D-9659-4ED1-9A78-E7B236D848B4}"/>
              </a:ext>
            </a:extLst>
          </p:cNvPr>
          <p:cNvPicPr>
            <a:picLocks noChangeAspect="1"/>
          </p:cNvPicPr>
          <p:nvPr/>
        </p:nvPicPr>
        <p:blipFill>
          <a:blip r:embed="rId2"/>
          <a:stretch>
            <a:fillRect/>
          </a:stretch>
        </p:blipFill>
        <p:spPr>
          <a:xfrm>
            <a:off x="1969477" y="1689296"/>
            <a:ext cx="7779433" cy="3431344"/>
          </a:xfrm>
          <a:prstGeom prst="rect">
            <a:avLst/>
          </a:prstGeom>
        </p:spPr>
      </p:pic>
    </p:spTree>
    <p:extLst>
      <p:ext uri="{BB962C8B-B14F-4D97-AF65-F5344CB8AC3E}">
        <p14:creationId xmlns:p14="http://schemas.microsoft.com/office/powerpoint/2010/main" val="1578403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47AA8-8340-4CE5-B4AA-BAC8EFBB0C9A}"/>
              </a:ext>
            </a:extLst>
          </p:cNvPr>
          <p:cNvSpPr>
            <a:spLocks noGrp="1"/>
          </p:cNvSpPr>
          <p:nvPr>
            <p:ph type="ctrTitle"/>
          </p:nvPr>
        </p:nvSpPr>
        <p:spPr>
          <a:xfrm>
            <a:off x="1350499" y="188191"/>
            <a:ext cx="9144000" cy="536941"/>
          </a:xfrm>
        </p:spPr>
        <p:txBody>
          <a:bodyPr anchor="t">
            <a:normAutofit/>
          </a:bodyPr>
          <a:lstStyle/>
          <a:p>
            <a:r>
              <a:rPr lang="en-US" sz="3200" b="1" dirty="0">
                <a:latin typeface="Arial Black" panose="020B0A04020102020204" pitchFamily="34" charset="0"/>
              </a:rPr>
              <a:t>Credit card Transaction report</a:t>
            </a:r>
            <a:endParaRPr lang="en-IN" sz="3200" b="1" dirty="0">
              <a:latin typeface="Arial Black" panose="020B0A04020102020204" pitchFamily="34" charset="0"/>
            </a:endParaRPr>
          </a:p>
        </p:txBody>
      </p:sp>
      <p:sp>
        <p:nvSpPr>
          <p:cNvPr id="3" name="Subtitle 2">
            <a:extLst>
              <a:ext uri="{FF2B5EF4-FFF2-40B4-BE49-F238E27FC236}">
                <a16:creationId xmlns:a16="http://schemas.microsoft.com/office/drawing/2014/main" id="{7B1218CF-AA6C-4DFC-9FE7-8131285B64B6}"/>
              </a:ext>
            </a:extLst>
          </p:cNvPr>
          <p:cNvSpPr>
            <a:spLocks noGrp="1"/>
          </p:cNvSpPr>
          <p:nvPr>
            <p:ph type="subTitle" idx="1"/>
          </p:nvPr>
        </p:nvSpPr>
        <p:spPr>
          <a:xfrm>
            <a:off x="1195755" y="4414655"/>
            <a:ext cx="9144000" cy="2255154"/>
          </a:xfrm>
        </p:spPr>
        <p:txBody>
          <a:bodyPr/>
          <a:lstStyle/>
          <a:p>
            <a:pPr algn="l"/>
            <a:r>
              <a:rPr lang="en-IN" sz="2000" dirty="0"/>
              <a:t>• Most of the transactions are done for bill payments i.e. $14M.</a:t>
            </a:r>
          </a:p>
          <a:p>
            <a:pPr algn="l"/>
            <a:r>
              <a:rPr lang="en-IN" sz="2000" dirty="0"/>
              <a:t>• Well educated people are the most who do the transactions, maybe because they are more financially literate and tech savvy.</a:t>
            </a:r>
          </a:p>
          <a:p>
            <a:pPr algn="l"/>
            <a:r>
              <a:rPr lang="en-IN" sz="2000" dirty="0"/>
              <a:t>• Blue cards are the most popular among users as it has been profitable by a wide margin of $46M.</a:t>
            </a:r>
          </a:p>
          <a:p>
            <a:pPr algn="l"/>
            <a:r>
              <a:rPr lang="en-IN" sz="2000" dirty="0"/>
              <a:t>• It looks like physical use of card (Swipe/ chip) is more preferred than online usage.</a:t>
            </a:r>
          </a:p>
        </p:txBody>
      </p:sp>
      <p:sp>
        <p:nvSpPr>
          <p:cNvPr id="5" name="Title 1">
            <a:extLst>
              <a:ext uri="{FF2B5EF4-FFF2-40B4-BE49-F238E27FC236}">
                <a16:creationId xmlns:a16="http://schemas.microsoft.com/office/drawing/2014/main" id="{F2A41005-5BB8-4017-A426-54F7B6766AAE}"/>
              </a:ext>
            </a:extLst>
          </p:cNvPr>
          <p:cNvSpPr txBox="1">
            <a:spLocks/>
          </p:cNvSpPr>
          <p:nvPr/>
        </p:nvSpPr>
        <p:spPr>
          <a:xfrm>
            <a:off x="1055077" y="815926"/>
            <a:ext cx="9144000" cy="53694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latin typeface="+mn-lt"/>
              </a:rPr>
              <a:t>Revenue by Categories</a:t>
            </a:r>
            <a:endParaRPr lang="en-IN" sz="2800" b="1" dirty="0">
              <a:latin typeface="+mn-lt"/>
            </a:endParaRPr>
          </a:p>
        </p:txBody>
      </p:sp>
      <p:pic>
        <p:nvPicPr>
          <p:cNvPr id="4" name="Picture 3">
            <a:extLst>
              <a:ext uri="{FF2B5EF4-FFF2-40B4-BE49-F238E27FC236}">
                <a16:creationId xmlns:a16="http://schemas.microsoft.com/office/drawing/2014/main" id="{F764868F-AC3F-4767-B089-578D244F5402}"/>
              </a:ext>
            </a:extLst>
          </p:cNvPr>
          <p:cNvPicPr>
            <a:picLocks noChangeAspect="1"/>
          </p:cNvPicPr>
          <p:nvPr/>
        </p:nvPicPr>
        <p:blipFill>
          <a:blip r:embed="rId2"/>
          <a:stretch>
            <a:fillRect/>
          </a:stretch>
        </p:blipFill>
        <p:spPr>
          <a:xfrm>
            <a:off x="489555" y="1466171"/>
            <a:ext cx="11212890" cy="2648853"/>
          </a:xfrm>
          <a:prstGeom prst="rect">
            <a:avLst/>
          </a:prstGeom>
        </p:spPr>
      </p:pic>
    </p:spTree>
    <p:extLst>
      <p:ext uri="{BB962C8B-B14F-4D97-AF65-F5344CB8AC3E}">
        <p14:creationId xmlns:p14="http://schemas.microsoft.com/office/powerpoint/2010/main" val="1539574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47AA8-8340-4CE5-B4AA-BAC8EFBB0C9A}"/>
              </a:ext>
            </a:extLst>
          </p:cNvPr>
          <p:cNvSpPr>
            <a:spLocks noGrp="1"/>
          </p:cNvSpPr>
          <p:nvPr>
            <p:ph type="ctrTitle"/>
          </p:nvPr>
        </p:nvSpPr>
        <p:spPr>
          <a:xfrm>
            <a:off x="1350499" y="188191"/>
            <a:ext cx="9144000" cy="536941"/>
          </a:xfrm>
        </p:spPr>
        <p:txBody>
          <a:bodyPr anchor="t">
            <a:normAutofit/>
          </a:bodyPr>
          <a:lstStyle/>
          <a:p>
            <a:r>
              <a:rPr lang="en-US" sz="3200" b="1" dirty="0">
                <a:latin typeface="Arial Black" panose="020B0A04020102020204" pitchFamily="34" charset="0"/>
              </a:rPr>
              <a:t>Credit card Transaction report</a:t>
            </a:r>
            <a:endParaRPr lang="en-IN" sz="3200" b="1" dirty="0">
              <a:latin typeface="Arial Black" panose="020B0A04020102020204" pitchFamily="34" charset="0"/>
            </a:endParaRPr>
          </a:p>
        </p:txBody>
      </p:sp>
      <p:sp>
        <p:nvSpPr>
          <p:cNvPr id="3" name="Subtitle 2">
            <a:extLst>
              <a:ext uri="{FF2B5EF4-FFF2-40B4-BE49-F238E27FC236}">
                <a16:creationId xmlns:a16="http://schemas.microsoft.com/office/drawing/2014/main" id="{7B1218CF-AA6C-4DFC-9FE7-8131285B64B6}"/>
              </a:ext>
            </a:extLst>
          </p:cNvPr>
          <p:cNvSpPr>
            <a:spLocks noGrp="1"/>
          </p:cNvSpPr>
          <p:nvPr>
            <p:ph type="subTitle" idx="1"/>
          </p:nvPr>
        </p:nvSpPr>
        <p:spPr>
          <a:xfrm>
            <a:off x="1223891" y="2009079"/>
            <a:ext cx="9144000" cy="2633260"/>
          </a:xfrm>
        </p:spPr>
        <p:txBody>
          <a:bodyPr>
            <a:normAutofit fontScale="92500" lnSpcReduction="10000"/>
          </a:bodyPr>
          <a:lstStyle/>
          <a:p>
            <a:pPr algn="l"/>
            <a:r>
              <a:rPr lang="en-IN" sz="2000" dirty="0"/>
              <a:t>• Targeted marketing campaign towards educated/ working people who are blue card holders. </a:t>
            </a:r>
          </a:p>
          <a:p>
            <a:pPr algn="l"/>
            <a:r>
              <a:rPr lang="en-IN" sz="2000" dirty="0"/>
              <a:t>• Give more offers like discounts or reward points to them on bill payments.</a:t>
            </a:r>
          </a:p>
          <a:p>
            <a:pPr algn="l"/>
            <a:r>
              <a:rPr lang="en-IN" sz="2000" dirty="0"/>
              <a:t>• Give exclusive offers to users during the festive season as they tend to spend more during these times.</a:t>
            </a:r>
          </a:p>
          <a:p>
            <a:pPr algn="l"/>
            <a:r>
              <a:rPr lang="en-IN" sz="2000" dirty="0"/>
              <a:t>• Tie-up with stores and restaurants where users most likely use the card for swipe payments where we can enhance their shopping or dining experience for every swipe payment made by them. This way we can increase our customer base organically in the long run.</a:t>
            </a:r>
          </a:p>
        </p:txBody>
      </p:sp>
      <p:sp>
        <p:nvSpPr>
          <p:cNvPr id="5" name="Title 1">
            <a:extLst>
              <a:ext uri="{FF2B5EF4-FFF2-40B4-BE49-F238E27FC236}">
                <a16:creationId xmlns:a16="http://schemas.microsoft.com/office/drawing/2014/main" id="{F2A41005-5BB8-4017-A426-54F7B6766AAE}"/>
              </a:ext>
            </a:extLst>
          </p:cNvPr>
          <p:cNvSpPr txBox="1">
            <a:spLocks/>
          </p:cNvSpPr>
          <p:nvPr/>
        </p:nvSpPr>
        <p:spPr>
          <a:xfrm>
            <a:off x="1041010" y="984738"/>
            <a:ext cx="9144000" cy="53694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latin typeface="+mn-lt"/>
              </a:rPr>
              <a:t>Recommendation</a:t>
            </a:r>
            <a:endParaRPr lang="en-IN" sz="2800" b="1" dirty="0">
              <a:latin typeface="+mn-lt"/>
            </a:endParaRPr>
          </a:p>
        </p:txBody>
      </p:sp>
    </p:spTree>
    <p:extLst>
      <p:ext uri="{BB962C8B-B14F-4D97-AF65-F5344CB8AC3E}">
        <p14:creationId xmlns:p14="http://schemas.microsoft.com/office/powerpoint/2010/main" val="379941899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TotalTime>154</TotalTime>
  <Words>661</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Black</vt:lpstr>
      <vt:lpstr>Calibri</vt:lpstr>
      <vt:lpstr>Calibri Light</vt:lpstr>
      <vt:lpstr>Office Theme</vt:lpstr>
      <vt:lpstr>Credit card Customer report</vt:lpstr>
      <vt:lpstr>PowerPoint Presentation</vt:lpstr>
      <vt:lpstr>PowerPoint Presentation</vt:lpstr>
      <vt:lpstr>PowerPoint Presentation</vt:lpstr>
      <vt:lpstr>PowerPoint Presentation</vt:lpstr>
      <vt:lpstr>Credit card Transaction report</vt:lpstr>
      <vt:lpstr>Credit card Transaction report</vt:lpstr>
      <vt:lpstr>Credit card Transaction report</vt:lpstr>
      <vt:lpstr>Credit card Transaction report</vt:lpstr>
      <vt:lpstr>Credit card Transaction report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Customer report</dc:title>
  <dc:creator>Ajit</dc:creator>
  <cp:lastModifiedBy>Ajit</cp:lastModifiedBy>
  <cp:revision>29</cp:revision>
  <dcterms:created xsi:type="dcterms:W3CDTF">2026-01-30T12:30:43Z</dcterms:created>
  <dcterms:modified xsi:type="dcterms:W3CDTF">2026-01-31T12:22:09Z</dcterms:modified>
</cp:coreProperties>
</file>